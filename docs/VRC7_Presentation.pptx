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18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838F">
              <a:alpha val="15000"/>
            </a:srgbClr>
          </a:solidFill>
          <a:ln w="12700">
            <a:solidFill>
              <a:srgbClr val="00838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38F"/>
                </a:solidFill>
              </a:rPr>
              <a:t>VRC-7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AI-Powered Voice Control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for Autonomous Robots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838F"/>
                </a:solidFill>
              </a:rPr>
              <a:t>Accent &amp; Noise Robustness in ROS2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45720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Mithila Prabhu-1567111  |  Romana Rashid-1428733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Frankfurt University of Applied Sciences</a:t>
            </a:r>
            <a:br>
              <a:rPr lang="en-US" sz="1300" dirty="0">
                <a:solidFill>
                  <a:srgbClr val="FFFFFF"/>
                </a:solidFill>
              </a:rPr>
            </a:br>
            <a:r>
              <a:rPr lang="en-US" sz="1300" dirty="0">
                <a:solidFill>
                  <a:srgbClr val="FFFFFF"/>
                </a:solidFill>
              </a:rPr>
              <a:t>M.Eng. in Information Technology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Autonomous Intelligent Systems  |  Winter 2025/26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Supervised by: Prof. Dr. Peter Nauth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08660"/>
            <a:ext cx="85039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8909C"/>
                </a:solidFill>
              </a:rPr>
              <a:t>Why existing voice-controlled robots fail in the real world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4864" cy="2011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🔊  Ambient Noise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Hospital/factory environments: 55–70 dB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Equipment alarms, conversations, HVAC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Increases ASR word error rate by 15–40%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Commands get truncated or corrupted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53312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54864" cy="2011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83480" y="10789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</a:rPr>
              <a:t>🗣  Accent Diversity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389888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~30% of clinical staff trained abroad (Germany)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ASR models optimised for native phonology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"Turn right" → transcribed as "Törn rät"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Commands silently dropped = no robot 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859536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</a:rPr>
              <a:t>Research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Existing keyword-based systems are fast but brittle to accents.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LLM-based systems handle accents but exhaust free-tier API limits within 4 minutes.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VRC-7 System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3982" y="374904"/>
            <a:ext cx="8665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</a:rPr>
              <a:t>Three contributions that solve the problem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7432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0241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Dual-Layer NLU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Local regex engine handles 85% of commands instantly (0 API calls). Groq LLaMA 3.3 70B invoked only for accent-distorted inputs.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102412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10241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Vocabulary-Primed ASR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6916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Groq Whisper with language forcing (language='en') + vocabulary prompt. Raises accented NLU accuracy from 42% → 94%.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743200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0" y="102412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10241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4-Step Nav Routing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16916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Odometry-based algorithm computing wall-safe waypoints from any position. Eliminates corridor-wall collisions.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626864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</a:rPr>
              <a:t>📍  Validated using hospital delivery scenario (ICU / Pharmacy / Reception / Ward) as evaluation use case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87782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8909C"/>
                </a:solidFill>
              </a:rPr>
              <a:t>Five-module producer-consumer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105156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1143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Microphone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16 kHz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440180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435608" y="1143000"/>
            <a:ext cx="105156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35608" y="1143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Energy VAD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RMS&gt;0.02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1440180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688336" y="1143000"/>
            <a:ext cx="105156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88336" y="1143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Silero VAD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p&gt;0.5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39896" y="1440180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941064" y="1143000"/>
            <a:ext cx="1051560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41064" y="1143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Groq Whisper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large-v3-turbo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92624" y="1440180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193792" y="1143000"/>
            <a:ext cx="1051560" cy="59436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93792" y="1143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1 NLU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Regex &lt;1ms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5352" y="1440180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46520" y="1143000"/>
            <a:ext cx="1051560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46520" y="1143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2 NLU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LLaMA 3.3 70B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98080" y="1440180"/>
            <a:ext cx="20116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699248" y="1143000"/>
            <a:ext cx="105156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699248" y="1143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ROS2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/cmd_vel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93208" y="18288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838F"/>
                </a:solidFill>
              </a:rPr>
              <a:t>known?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93208" y="20848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85%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41848" y="20848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38F"/>
                </a:solidFill>
              </a:rPr>
              <a:t>15%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103120"/>
            <a:ext cx="8595360" cy="2606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Gazebo Simulation  ↔  TurtleBot3 Burger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51460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25146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/odom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Odometry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251460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474720" y="25146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/scan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LiDAR 360°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251460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92240" y="25146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4-Step Nav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Router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909C"/>
                </a:solidFill>
              </a:rPr>
              <a:t>← Sensor feedback loop (dashed)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114800"/>
            <a:ext cx="20116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7432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</a:rPr>
              <a:t>1.5 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74320" y="4553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Chunk window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68880" y="4114800"/>
            <a:ext cx="20116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46888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</a:rPr>
              <a:t>60%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468880" y="4553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API calls saved by VAD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4114800"/>
            <a:ext cx="20116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66344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</a:rPr>
              <a:t>&lt;1 ms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663440" y="4553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Layer 1 latency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58000" y="4114800"/>
            <a:ext cx="20116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85800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</a:rPr>
              <a:t>200–500 ms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858000" y="4553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Layer 2 latency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Dual-Layer NLU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8503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</a:rPr>
              <a:t>The core innovation of VRC-7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 1 — Local Regex NLU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30+ compiled regex patterns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Navigation, turns, movement, cardinal, compound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Handles synonyms: "farmasi" = pharmacy, "yellow" = ICU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Sub-millisecond response (&lt;1 ms)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Zero API cost — fully offline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374904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Handles ~85% of all commands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First line of defence — always tried 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834640"/>
            <a:ext cx="548640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297680" y="2468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</a:rPr>
              <a:t>unknown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3776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 2 — Groq LLaMA 3.3 70B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6002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Invoked ONLY when Layer 1 fails (~15%)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Interprets semantic INTENT, not keywords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"Törn rät" → turn right (Icelandic mis-decode)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"Donor" → turn around, "farmasi" → pharmacy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temperature=0.0 for deterministic output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657600"/>
            <a:ext cx="3749040" cy="1005840"/>
          </a:xfrm>
          <a:prstGeom prst="rect">
            <a:avLst/>
          </a:prstGeom>
          <a:solidFill>
            <a:srgbClr val="E0F7FA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0" y="3703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85% API call reduction vs full-cloud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4 min → 26 min free-tier operation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4-Step Room-Exit Navigation Algorithm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8909C"/>
                </a:solidFill>
              </a:rPr>
              <a:t>Wall-safe routing from any arbitrary position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IF inside room (|y| &gt; 2.2m)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Move to target gap x-position (align to corridor entry)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508760"/>
            <a:ext cx="0" cy="457200"/>
          </a:xfrm>
          <a:prstGeom prst="line">
            <a:avLst/>
          </a:prstGeom>
          <a:noFill/>
          <a:ln w="19050">
            <a:solidFill>
              <a:srgbClr val="ECEFF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411480" cy="4114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Exit through gap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286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Move to ±1.5m — pass through the corridor entry gap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2468880"/>
            <a:ext cx="0" cy="457200"/>
          </a:xfrm>
          <a:prstGeom prst="line">
            <a:avLst/>
          </a:prstGeom>
          <a:noFill/>
          <a:ln w="19050">
            <a:solidFill>
              <a:srgbClr val="ECEFF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017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Reach corridor centre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Move to (tx, 0) — navigate along corridor axis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3429000"/>
            <a:ext cx="0" cy="457200"/>
          </a:xfrm>
          <a:prstGeom prst="line">
            <a:avLst/>
          </a:prstGeom>
          <a:noFill/>
          <a:ln w="19050">
            <a:solidFill>
              <a:srgbClr val="ECEFF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411480" cy="4114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977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Enter target room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206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Move to (tx, ty) — enter through gap into destination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1005840"/>
            <a:ext cx="3749040" cy="3840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21208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Hospital World Layout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1371600"/>
            <a:ext cx="14630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66560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ICU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(+6,+6)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3383280"/>
            <a:ext cx="146304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66560" y="3383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Pharmacy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(+6,-6)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1371600"/>
            <a:ext cx="1463040" cy="914400"/>
          </a:xfrm>
          <a:prstGeom prst="rect">
            <a:avLst/>
          </a:prstGeom>
          <a:solidFill>
            <a:srgbClr val="FFE0B2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212080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Reception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(-6,+6)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0" y="3383280"/>
            <a:ext cx="1463040" cy="914400"/>
          </a:xfrm>
          <a:prstGeom prst="rect">
            <a:avLst/>
          </a:prstGeom>
          <a:solidFill>
            <a:srgbClr val="BBDEFB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212080" y="3383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Ward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(-6,-6)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2331720"/>
            <a:ext cx="457200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46520" y="2788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</a:rPr>
              <a:t>GAP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212080" y="2331720"/>
            <a:ext cx="457200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212080" y="2788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</a:rPr>
              <a:t>GAP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989320" y="274320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943600" y="3063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565C0"/>
                </a:solidFill>
              </a:rPr>
              <a:t>⬤ (0,0)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65760" y="4681728"/>
            <a:ext cx="8412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 Correctness proven: every generated path passes exclusively through corridor gap positions — zero wall crossings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Results: Voice Command Recognition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301752"/>
            <a:ext cx="8595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</a:rPr>
              <a:t>N=50 trials per condition, 150 total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965960" cy="5486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38F"/>
                </a:solidFill>
              </a:rPr>
              <a:t>94%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NLU 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Accented Speech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19659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50592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C0"/>
                </a:solidFill>
              </a:rPr>
              <a:t>+52pp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42032" y="20299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vs Layer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Alone (42%)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196596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26864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A825"/>
                </a:solidFill>
              </a:rPr>
              <a:t>73–94%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18304" y="20299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End-to-End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Accuracy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0058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803136" y="1005840"/>
            <a:ext cx="19659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03136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C0"/>
                </a:solidFill>
              </a:rPr>
              <a:t>85%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94576" y="20299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API 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Reduction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8595360" cy="138988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Transcription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NLU Accuracy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End-to-End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Quiet (no noise)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98%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Background noise (55 dB)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82%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Accented speech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78%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73%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Key Insight: </a:t>
            </a:r>
            <a:r>
              <a:rPr lang="en-US" sz="1100" dirty="0">
                <a:solidFill>
                  <a:srgbClr val="546E7A"/>
                </a:solidFill>
              </a:rPr>
              <a:t>NLU accuracy (94%) EXCEEDS transcription accuracy (78%) for accented speech. This proves Layer 2 LLaMA 3.3 70B recovers commands that Whisper garbled — semantic inference compensates for imperfect transcription.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Results: Navigation &amp; API Efficiency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59654"/>
            <a:ext cx="8595360" cy="438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8909C"/>
                </a:solidFill>
              </a:rPr>
              <a:t>87% overall navigation success · 6.5× API efficiency gain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33974"/>
            <a:ext cx="5029200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Navigation Performance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5029200" cy="34747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Success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Avg.Time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Centre (0,0)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ICU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5/5 (100%)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 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Centre (0,0)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Pharmacy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5/5 (100%)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37 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Centre (0,0)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Reception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5/5 (100%)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61 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Centre (0,0)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Ward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5/5 (100%)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57 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Inside room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Other zone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4/5 (80%)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62 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Mid-corridor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Any zone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3/5 (60%)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74 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Overall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26/30 (87%)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54 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API Efficiency Comparison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280160"/>
          <a:ext cx="3474720" cy="2286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Full-Cloud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VRC-7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LLM calls/10 cmds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~1.5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LLM calls/min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Quota exhaustion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~4 min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~26 min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Offline operation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Degraded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 NLU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System Assessment (0–6 scale)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Nav. accuracy (centre)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863840" y="4005072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8028432" y="4005072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193024" y="4005072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357616" y="4005072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522208" y="4005072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13"/>
          <p:cNvSpPr/>
          <p:nvPr/>
        </p:nvSpPr>
        <p:spPr>
          <a:xfrm>
            <a:off x="8686800" y="4005072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486400" y="4178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Accent robustness (NLU)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863840" y="4206240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8028432" y="4206240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8193024" y="4206240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8357616" y="4206240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8522208" y="4206240"/>
            <a:ext cx="118872" cy="118872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8686800" y="4206240"/>
            <a:ext cx="118872" cy="118872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5486400" y="43799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Wall collision avoidance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7863840" y="4407408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8028432" y="4407408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8193024" y="4407408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8357616" y="4407408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8522208" y="4407408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8686800" y="4407408"/>
            <a:ext cx="118872" cy="118872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5486400" y="45811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API efficiency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7863840" y="4608576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>
            <a:off x="8028432" y="4608576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1"/>
          <p:cNvSpPr/>
          <p:nvPr/>
        </p:nvSpPr>
        <p:spPr>
          <a:xfrm>
            <a:off x="8193024" y="4608576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2"/>
          <p:cNvSpPr/>
          <p:nvPr/>
        </p:nvSpPr>
        <p:spPr>
          <a:xfrm>
            <a:off x="8357616" y="4608576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8522208" y="4608576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8686800" y="4608576"/>
            <a:ext cx="118872" cy="118872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5486400" y="47823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Offline degradation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7863840" y="4809744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7"/>
          <p:cNvSpPr/>
          <p:nvPr/>
        </p:nvSpPr>
        <p:spPr>
          <a:xfrm>
            <a:off x="8028432" y="4809744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8"/>
          <p:cNvSpPr/>
          <p:nvPr/>
        </p:nvSpPr>
        <p:spPr>
          <a:xfrm>
            <a:off x="8193024" y="4809744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9"/>
          <p:cNvSpPr/>
          <p:nvPr/>
        </p:nvSpPr>
        <p:spPr>
          <a:xfrm>
            <a:off x="8357616" y="4809744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0"/>
          <p:cNvSpPr/>
          <p:nvPr/>
        </p:nvSpPr>
        <p:spPr>
          <a:xfrm>
            <a:off x="8522208" y="4809744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1"/>
          <p:cNvSpPr/>
          <p:nvPr/>
        </p:nvSpPr>
        <p:spPr>
          <a:xfrm>
            <a:off x="8686800" y="4809744"/>
            <a:ext cx="118872" cy="118872"/>
          </a:xfrm>
          <a:prstGeom prst="ellipse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5486400" y="4983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Weighted mean: 4.8 / 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ASR Mitigation Ablation Study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8909C"/>
                </a:solidFill>
              </a:rPr>
              <a:t>Each mitigation is necessary — all three together are sufficient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No mitigations (raw Whisper + Layer 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Transcription: ~23%   |   NLU: ~20%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07592"/>
            <a:ext cx="3840480" cy="320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307592"/>
            <a:ext cx="768096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0" y="13075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20%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+ Language forcing (language='en')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Transcription: ~68%   |   NLU: 42%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267712"/>
            <a:ext cx="3840480" cy="320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54880" y="2267712"/>
            <a:ext cx="1613002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86800" y="2267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42%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+ Vocabulary priming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447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Transcription: 78%   |   NLU: ~55%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227832"/>
            <a:ext cx="3840480" cy="320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3227832"/>
            <a:ext cx="2112264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0" y="32278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55%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solidFill>
            <a:srgbClr val="E0F7FA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+ Layer 2 LLaMA 3.3 70B  (full VRC-7)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407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Transcription: 78%   |   NLU: 94%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187952"/>
            <a:ext cx="3840480" cy="320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54880" y="4187952"/>
            <a:ext cx="3610051" cy="3200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686800" y="41879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</a:rPr>
              <a:t>94%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65760" y="48737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74 percentage point improvement over no-mitigation baseline  |  All three mitigations individually necessary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Challenges &amp; Solutions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306324"/>
            <a:ext cx="852220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</a:rPr>
              <a:t>Five engineering challenges encountered and resolved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73152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</a:rPr>
              <a:t>⚠  Challenge: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0515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WSL2 Audio (PaErrorCode -9987)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53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✓  Solution: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13533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Set PULSE_SERVER env var before sounddevice import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73152" cy="6858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18379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</a:rPr>
              <a:t>⚠  Challenge: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183794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Groq API Rate Limiting (4 min quota)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1396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✓  Solution: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13969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Dual-layer NLU + VAD cascade → 26 min operation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7860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578608"/>
            <a:ext cx="73152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2624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</a:rPr>
              <a:t>⚠  Challenge: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26243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Corridor wall collisions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✓  Solution: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29260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4-step routing algorithm — always routes through gaps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64992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364992"/>
            <a:ext cx="73152" cy="6858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3410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</a:rPr>
              <a:t>⚠  Challenge: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34107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Accent mis-transcription as foreign language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7124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✓  Solution: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0" y="371246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language='en' + vocab prompt + LLaMA Layer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151376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4320" y="4151376"/>
            <a:ext cx="73152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41970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</a:rPr>
              <a:t>⚠  Challenge: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419709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TurtleBot3 tipping at 0.9 m/s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98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✓  Solution: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0" y="44988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Speed limited to 0.5 m/s — physics stable, 200+ runs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 &amp; Future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10418"/>
            <a:ext cx="8595360" cy="487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What VRC-7 Demonstrates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3891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100% navigation success from centre position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94% NLU accuracy for accented speech (+52pp vs baseline)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85% API call reduction → 26 min free-tier operation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Accent robustness and API efficiency are NOT in conflict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</a:rPr>
              <a:t>Dual-layer architecture generalises to any robot domain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Future Extensions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92040" y="1408176"/>
            <a:ext cx="384048" cy="38404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3533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SLAM Navigation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6276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Nav2 + AMCL replaces odometry drift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2996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92040" y="2157984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9204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1031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Multilingual Support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3774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German, French, Hindi in LLaMA prompt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77977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92040" y="2907792"/>
            <a:ext cx="384048" cy="38404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9204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8529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Local LLM (Ollama)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3127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GGUF 4-bit LLaMA — no API dependency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52958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92040" y="365760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6027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Multi-Robot Fleet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3877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ROS2 namespacing + robot addressing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65760" y="46177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</a:rPr>
              <a:t>🔗  github.com/Mprabhu26/turtlebot_vrc  </a:t>
            </a:r>
            <a:r>
              <a:rPr lang="en-US" sz="1100" dirty="0">
                <a:solidFill>
                  <a:srgbClr val="FFFFFF"/>
                </a:solidFill>
              </a:rPr>
              <a:t>  |  Autonomous Intelligent Systems · Winter 2025/26 · Frankfurt UAS · Prof. Dr. Peter Nauth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838F">
              <a:alpha val="12000"/>
            </a:srgbClr>
          </a:solidFill>
          <a:ln w="12700">
            <a:solidFill>
              <a:srgbClr val="00838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2337480"/>
            <a:ext cx="45720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Mithila Prabhu &amp; Romana Rashid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Frankfurt University of Applied Sciences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Autonomous Intelligent Systems · Winter 2025/26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Supervised by Prof. Dr. Peter Nauth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838F"/>
                </a:solidFill>
              </a:rPr>
              <a:t>github.com/Mprabhu26/turtlebot_vrc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1273</Words>
  <Application>Microsoft Office PowerPoint</Application>
  <PresentationFormat>On-screen Show (16:9)</PresentationFormat>
  <Paragraphs>281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VRC-7: AI-Powered Voice Control for Autonomous Robots</dc:title>
  <dc:subject>PptxGenJS Presentation</dc:subject>
  <dc:creator>Mithila Prabhu &amp; Romana Rashid</dc:creator>
  <cp:lastModifiedBy>Prabhu, Mithila Maruti</cp:lastModifiedBy>
  <cp:revision>6</cp:revision>
  <dcterms:created xsi:type="dcterms:W3CDTF">2026-03-20T15:32:16Z</dcterms:created>
  <dcterms:modified xsi:type="dcterms:W3CDTF">2026-03-20T15:47:08Z</dcterms:modified>
</cp:coreProperties>
</file>